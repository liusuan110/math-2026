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24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第1页用于开场。说明本汇报围绕 2025 年高教社杯 A 题展开，目标是建立运动学与遮蔽判定模型，并优化烟幕干扰弹的投放策略。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第2页解释四类对象的关系：导弹飞向假目标，无人机投放烟幕，烟幕云团遮挡导弹到真目标的视线。核心指标是有效遮蔽时间。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第3页展示赛题从给定策略计算到多无人机协同优化的层级关系。后续模型是统一的，只是决策变量和约束数量逐步增加。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第4页讲假设。强调所有代码都围绕同一运动学框架：导弹、无人机、烟幕弹和云团都有明确轨迹；遮蔽只在起爆后 20 秒内成立。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第5页讲运动学模型。导弹和无人机是匀速直线运动，烟幕弹是带重力的平抛，云团在起爆后匀速下沉。优化变量最终都通过这些方程转成投放点和起爆点。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第6页讲遮蔽判定。代码中先对真目标圆柱表面采样，然后计算烟幕中心到导弹—每个采样点视线段的距离。只有所有采样点都被半径 10 米的烟幕球遮挡，才认为该时刻有效遮蔽。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第7页讲优化流程。先给定一组策略变量，计算轨迹，然后扫描有效时间段。问题 2 到问题 4 使用差分进化算法搜索参数，问题 5 使用已保存策略并复算遮蔽时长，最后按导弹合并遮蔽区间。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第8页给出问题1固定策略结果。FY1 在 1.5 秒投放，3.6 秒后起爆，起爆时刻 5.1 秒。根据严格遮蔽判定，有效区间约为 8.057 到 9.448 秒，总时长约 1.392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第9页讲问题2。差分进化算法优化 FY1 的航向、速度、投放时刻和起爆延时。最终得到约 4.587 秒遮蔽时长，较问题1显著提升，主要原因是起爆点更接近导弹视线遮蔽的关键位置。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第10页讲问题3。FY1 保持同一航向和速度，连续投放三枚烟幕弹。每枚弹的有效时长不同，但通过时间错开，整体覆盖范围比单弹更长。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第11页讲问题4。三架无人机各投放一枚弹，参数分别优化。相比单架无人机，多无人机的主要优势是空间上分散，可以把烟幕起爆点布置在更合适的位置。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第12页讲问题5综合结果。这里不逐条展开 15 枚弹的全部坐标，而是展示核心效果：单弹有效时长合计 40.6 秒，按导弹合并后的联合遮蔽总时长为 36.464561 秒。时间轴展示了 M1、M2、M3 的联合遮蔽区间。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第13页评价模型。优点是结构统一、可计算性强；不足是几何模型和采样模型仍有简化。答辩时可以强调这是竞赛环境下可解释、可复现的工程化建模方案。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第14页总结。结果对比体现了策略复杂度增加带来的遮蔽时长提升。核心结论是：只要能准确建立运动学和几何遮蔽判定，就可以用数值优化得到有效投放方案。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第15页用于结束答辩。可以邀请老师提问，准备回答模型假设、遮蔽判据、优化算法和结果可靠性等问题。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tech_military_defense_conc.png"/>
          <p:cNvPicPr>
            <a:picLocks noChangeAspect="1"/>
          </p:cNvPicPr>
          <p:nvPr/>
        </p:nvPicPr>
        <p:blipFill>
          <a:blip r:embed="rId3"/>
          <a:srcRect l="22685" r="22685"/>
          <a:stretch/>
        </p:blipFill>
        <p:spPr>
          <a:xfrm>
            <a:off x="5532120" y="0"/>
            <a:ext cx="66568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658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/>
                <a:ea typeface="Microsoft YaHei"/>
                <a:cs typeface="Calibri"/>
              </a:rPr>
              <a:t>A题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3258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烟幕干扰弹的投放策略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Calibri"/>
                <a:ea typeface="Microsoft YaHei"/>
                <a:cs typeface="Calibri"/>
              </a:rPr>
              <a:t>数学建模项目汇报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85800" y="2606040"/>
            <a:ext cx="32004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296561" y="5989319"/>
            <a:ext cx="5171303" cy="578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C7D2FE"/>
                </a:solidFill>
                <a:latin typeface="Calibri"/>
                <a:ea typeface="Microsoft YaHei"/>
                <a:cs typeface="Calibri"/>
              </a:rPr>
              <a:t>组员</a:t>
            </a:r>
            <a:r>
              <a:rPr lang="en-US" sz="2000" dirty="0">
                <a:solidFill>
                  <a:srgbClr val="C7D2FE"/>
                </a:solidFill>
                <a:latin typeface="Calibri"/>
                <a:ea typeface="Microsoft YaHei"/>
                <a:cs typeface="Calibri"/>
              </a:rPr>
              <a:t> </a:t>
            </a:r>
            <a:r>
              <a:rPr lang="zh-CN" altLang="en-US" sz="2000" dirty="0">
                <a:solidFill>
                  <a:srgbClr val="C7D2FE"/>
                </a:solidFill>
                <a:latin typeface="Calibri"/>
                <a:ea typeface="Microsoft YaHei"/>
                <a:cs typeface="Calibri"/>
              </a:rPr>
              <a:t>：祖国人，孙悟空，哈利波特，玉帝老儿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场景关系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问题背景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17320"/>
            <a:ext cx="4572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烟幕干扰弹通过形成球状烟幕云团，阻断来袭导弹观察真目标的视线。无人机的任务不是拦截导弹，而是在合适的时间与空间投放烟幕弹，使真目标尽可能长时间处于有效遮蔽状态。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9169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导弹：匀速飞向假目标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2862072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971800" y="29169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无人机：等高度匀速飞行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13232" y="3566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36941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烟幕弹：平抛后起爆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2862072" y="3566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971800" y="36941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真目标：圆柱体整体遮蔽</a:t>
            </a:r>
            <a:endParaRPr lang="en-US" sz="1140" dirty="0"/>
          </a:p>
        </p:txBody>
      </p:sp>
      <p:pic>
        <p:nvPicPr>
          <p:cNvPr id="18" name="Image 0" descr="/mnt/data/a_clean_vector_style_tactical_technical_diagram_sc.png"/>
          <p:cNvPicPr>
            <a:picLocks noChangeAspect="1"/>
          </p:cNvPicPr>
          <p:nvPr/>
        </p:nvPicPr>
        <p:blipFill>
          <a:blip r:embed="rId3"/>
          <a:srcRect l="10419" r="10419"/>
          <a:stretch/>
        </p:blipFill>
        <p:spPr>
          <a:xfrm>
            <a:off x="5806440" y="1298448"/>
            <a:ext cx="5852160" cy="4160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8368" y="4754880"/>
            <a:ext cx="45720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研究目标：优化航向、速度、投放时刻和起爆延时，延长真目标有效遮蔽时间。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五个问题的递进关系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赛题任务拆解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2093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P1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4984" y="2496312"/>
            <a:ext cx="1115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给定 FY1 固定策略，计算对 M1 的遮蔽时长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377440" y="2633472"/>
            <a:ext cx="4572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971800" y="196596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108960" y="2093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P2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18104" y="2496312"/>
            <a:ext cx="1115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优化 FY1 单枚烟幕弹策略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80560" y="2633472"/>
            <a:ext cx="4572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074920" y="196596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212080" y="2093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P3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21224" y="2496312"/>
            <a:ext cx="1115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FY1 投放三枚烟幕弹干扰 M1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0" y="2633472"/>
            <a:ext cx="4572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178040" y="196596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0" y="2093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P4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24344" y="2496312"/>
            <a:ext cx="1115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FY1、FY2、FY3 各投放一枚烟幕弹干扰 M1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686800" y="2633472"/>
            <a:ext cx="4572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281160" y="196596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418320" y="2093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P5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27464" y="2496312"/>
            <a:ext cx="1115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五架无人机最多各三枚，干扰 M1、M2、M3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005840" y="379476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复杂度逐层上升：从“单弹计算”到“多弹、多机、多导弹协同优化”。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14400" y="43708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对应建模重点：运动轨迹 → 遮蔽判定 → 参数优化 → 区间合并 → 协同分配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建模基础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基本假设与符号说明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417320"/>
          <a:ext cx="5989320" cy="3246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对象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假设/约束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导弹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以 300 m/s 匀速直线飞向假目标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无人机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等高度匀速直线飞行，速度 70-140 m/s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烟幕弹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脱离无人机后继承水平速度，竖直方向平抛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烟幕云团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起爆后以 3 m/s 下沉，半径 10 m，20 s 内有效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真目标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8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底面圆心 (0,200,0)，半径 7 m，高 10 m 的圆柱体</a:t>
                      </a:r>
                      <a:endParaRPr lang="en-US" sz="12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022592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主要变量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40880" y="1865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θ：无人机航向角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189720" y="1865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v：无人机速度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704088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t_drop：投放时刻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18972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τ：起爆延时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04088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D：投放点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918972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E：起爆点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70408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T：有效遮蔽时长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6903720" y="46177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150608" y="48280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约束重点：同一无人机相邻投放间隔 ≥ 1 s；每架无人机航向和速度确定后不再调整。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轨迹方程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运动学模型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0392" y="1545336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导弹位置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1874520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r_m(t) = r_m0 + 300 t · e_m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0392" y="2267712"/>
            <a:ext cx="49286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e_m 指向假目标，导弹匀速直线飞行。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28232" y="1545336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无人机位置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1874520"/>
            <a:ext cx="4837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r_u(t) = r_u0 + v t · (cosθ, sinθ, 0)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28232" y="2267712"/>
            <a:ext cx="48371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无人机等高度飞行，θ 与 v 为主要优化变量。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0392" y="3099816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烟幕弹平抛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0392" y="3429000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r_b(t) = r_u(t_drop) + v_u Δt + (0,0,-½gΔt²)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0392" y="3822192"/>
            <a:ext cx="4928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Δt = t - t_drop，水平速度继承无人机。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97180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28232" y="3099816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云团下沉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8232" y="3429000"/>
            <a:ext cx="4837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r_c(t) = r_E + (0,0,-3(t-t_E))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28232" y="3822192"/>
            <a:ext cx="48371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起爆点 E 由平抛轨迹给出；起爆后云团半径 10 m。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这四组方程把“策略变量”映射为“任意时刻的空间位置”，为遮蔽判定和优化搜索提供计算基础。</a:t>
            </a: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圆柱体目标的采样判据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遮蔽判定模型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3955"/>
                </a:solidFill>
                <a:latin typeface="Calibri"/>
                <a:ea typeface="Microsoft YaHei"/>
                <a:cs typeface="Calibri"/>
              </a:rPr>
              <a:t>判定核心：烟幕球必须同时遮挡导弹到真目标所有采样点的视线。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33272" y="2084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456"/>
                </a:solidFill>
                <a:latin typeface="Calibri"/>
                <a:ea typeface="Microsoft YaHei"/>
                <a:cs typeface="Calibri"/>
              </a:rPr>
              <a:t>1 目标采样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1305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955"/>
                </a:solidFill>
                <a:latin typeface="Calibri"/>
                <a:ea typeface="Microsoft YaHei"/>
                <a:cs typeface="Calibri"/>
              </a:rPr>
              <a:t>将圆柱侧面、上下边界和关键点离散为 p_i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355080" y="1965960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19672" y="2084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456"/>
                </a:solidFill>
                <a:latin typeface="Calibri"/>
                <a:ea typeface="Microsoft YaHei"/>
                <a:cs typeface="Calibri"/>
              </a:rPr>
              <a:t>2 视线线段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21305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955"/>
                </a:solidFill>
                <a:latin typeface="Calibri"/>
                <a:ea typeface="Microsoft YaHei"/>
                <a:cs typeface="Calibri"/>
              </a:rPr>
              <a:t>对每个 p_i 构造导弹 M 到 p_i 的线段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68680" y="3081528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3272" y="3200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456"/>
                </a:solidFill>
                <a:latin typeface="Calibri"/>
                <a:ea typeface="Microsoft YaHei"/>
                <a:cs typeface="Calibri"/>
              </a:rPr>
              <a:t>3 距离计算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955"/>
                </a:solidFill>
                <a:latin typeface="Calibri"/>
                <a:ea typeface="Microsoft YaHei"/>
                <a:cs typeface="Calibri"/>
              </a:rPr>
              <a:t>求烟幕中心 c 到每条线段的最短距离 d_i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355080" y="3081528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19672" y="3200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456"/>
                </a:solidFill>
                <a:latin typeface="Calibri"/>
                <a:ea typeface="Microsoft YaHei"/>
                <a:cs typeface="Calibri"/>
              </a:rPr>
              <a:t>4 严格遮蔽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33955"/>
                </a:solidFill>
                <a:latin typeface="Calibri"/>
                <a:ea typeface="Microsoft YaHei"/>
                <a:cs typeface="Calibri"/>
              </a:rPr>
              <a:t>若 max(d_i) ≤ 10 m，则该时刻有效遮蔽</a:t>
            </a:r>
            <a:endParaRPr lang="en-US" sz="1140" dirty="0"/>
          </a:p>
        </p:txBody>
      </p:sp>
      <p:sp>
        <p:nvSpPr>
          <p:cNvPr id="22" name="Rounded Rectangle 21"/>
          <p:cNvSpPr/>
          <p:nvPr/>
        </p:nvSpPr>
        <p:spPr>
          <a:xfrm>
            <a:off x="868680" y="4315968"/>
            <a:ext cx="10424160" cy="160020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4B8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91440" rtlCol="0" anchor="ctr"/>
          <a:lstStyle/>
          <a:p>
            <a:pPr algn="ctr"/>
            <a:r>
              <a:rPr sz="1500" b="1">
                <a:solidFill>
                  <a:srgbClr val="335E8F"/>
                </a:solidFill>
                <a:latin typeface="Calibri"/>
                <a:ea typeface="Microsoft YaHei"/>
                <a:cs typeface="Calibri"/>
              </a:rPr>
              <a:t>核心判据</a:t>
            </a:r>
          </a:p>
          <a:p>
            <a:pPr algn="ctr"/>
            <a:r>
              <a:rPr sz="2500" b="1">
                <a:solidFill>
                  <a:srgbClr val="082749"/>
                </a:solidFill>
                <a:latin typeface="Calibri"/>
                <a:ea typeface="Microsoft YaHei"/>
                <a:cs typeface="Calibri"/>
              </a:rPr>
              <a:t>maxᵢ dist(c(t), segment(M(t), pᵢ)) ≤ 10</a:t>
            </a:r>
          </a:p>
          <a:p>
            <a:pPr algn="ctr">
              <a:spcBef>
                <a:spcPts val="200"/>
              </a:spcBef>
            </a:pPr>
            <a:r>
              <a:rPr sz="2100" b="1">
                <a:solidFill>
                  <a:srgbClr val="082749"/>
                </a:solidFill>
                <a:latin typeface="Calibri"/>
                <a:ea typeface="Microsoft YaHei"/>
                <a:cs typeface="Calibri"/>
              </a:rPr>
              <a:t>t_E ≤ t ≤ t_E + 20</a:t>
            </a:r>
          </a:p>
          <a:p>
            <a:pPr algn="ctr">
              <a:spcBef>
                <a:spcPts val="200"/>
              </a:spcBef>
            </a:pPr>
            <a:r>
              <a:rPr sz="2100" b="1">
                <a:solidFill>
                  <a:srgbClr val="082749"/>
                </a:solidFill>
                <a:latin typeface="Calibri"/>
                <a:ea typeface="Microsoft YaHei"/>
                <a:cs typeface="Calibri"/>
              </a:rPr>
              <a:t>T = ∑ blocked(t) · Δt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数值搜索与区间合并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优化方法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32688" y="205740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策略变量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957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θ, v, t_drop, τ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578608" y="2359152"/>
            <a:ext cx="38404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063240" y="18745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172968" y="205740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轨迹计算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3957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投放点 / 起爆点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818888" y="2359152"/>
            <a:ext cx="38404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03520" y="18745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13248" y="205740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遮蔽扫描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23957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逐时刻判定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059168" y="2359152"/>
            <a:ext cx="38404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543800" y="18745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53528" y="205740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区间合并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23957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去除重复覆盖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299448" y="2359152"/>
            <a:ext cx="38404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784080" y="18745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893808" y="205740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目标函数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23957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最大化总遮蔽时长</a:t>
            </a:r>
            <a:endParaRPr lang="en-US" sz="98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611880"/>
          <a:ext cx="10287000" cy="19202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问题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核心优化变量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代码方法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P2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FY1 单弹：θ, v, 起爆时刻, 延时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差分进化 + 精细区间求根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P3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FY1 三弹：同一航向/速度 + 三组时序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差分进化 + 联合遮蔽区间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P4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三机各一弹：每机独立策略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分机搜索 + 统一评估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P5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五机最多十五弹：分配导弹与时序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保存策略复算 + 区间合并</a:t>
                      </a:r>
                      <a:endParaRPr lang="en-US" sz="11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给定 FY1 固定策略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问题1结果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32688" y="15361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1.392 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192024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总有效遮蔽时长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172968" y="15361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5.100 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72968" y="192024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起爆时刻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141732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13248" y="1536192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/>
                <a:ea typeface="Microsoft YaHei"/>
                <a:cs typeface="Calibri"/>
              </a:rPr>
              <a:t>[8.057, 9.448] 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13248" y="192024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有效遮蔽区间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788920"/>
          <a:ext cx="7223760" cy="20848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项目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坐标 / 数值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FY1 投放点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(17620.000, 0.000, 1800.000)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烟幕弹起爆点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(17188.000, 0.000, 1736.496)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计算步长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dt = 0.001 s 时间扫描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判定对象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M1 到真目标圆柱采样点视线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68680" y="523036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固定策略下，烟幕起爆位置偏离最佳遮蔽窗口，只有约 1.4 秒的完整遮蔽。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778240" y="3337560"/>
            <a:ext cx="24688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9747504" y="3246120"/>
            <a:ext cx="50292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491472" y="35387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8.057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076688" y="35387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9.448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400032" y="28986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遮蔽窗口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FY1 单枚烟幕弹优化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问题2结果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09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0"/>
          <a:ext cx="4572000" cy="290779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变量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优化结果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飞行方向角 θ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6.402°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飞行速度 v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138.142 m/s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投放时刻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0.150 s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起爆时刻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0.786 s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有效遮蔽区间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[0.854082, 5.441059] s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总有效遮蔽时长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6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4.587 s</a:t>
                      </a:r>
                      <a:endParaRPr lang="en-US" sz="12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5806440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相对问题1：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806440" y="2240280"/>
            <a:ext cx="4023360" cy="0"/>
          </a:xfrm>
          <a:prstGeom prst="line">
            <a:avLst/>
          </a:prstGeom>
          <a:noFill/>
          <a:ln w="127000">
            <a:solidFill>
              <a:srgbClr val="CBD5E1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806440" y="2240280"/>
            <a:ext cx="1216152" cy="0"/>
          </a:xfrm>
          <a:prstGeom prst="line">
            <a:avLst/>
          </a:prstGeom>
          <a:noFill/>
          <a:ln w="1270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012680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P1  1.392 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2880360"/>
            <a:ext cx="4023360" cy="0"/>
          </a:xfrm>
          <a:prstGeom prst="line">
            <a:avLst/>
          </a:prstGeom>
          <a:noFill/>
          <a:ln w="127000">
            <a:solidFill>
              <a:srgbClr val="CBD5E1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806440" y="2880360"/>
            <a:ext cx="4023360" cy="0"/>
          </a:xfrm>
          <a:prstGeom prst="line">
            <a:avLst/>
          </a:prstGeom>
          <a:noFill/>
          <a:ln w="1270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001268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P2  4.587 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3749040"/>
            <a:ext cx="5074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优化后遮蔽时长约提升 3.3 倍，说明起爆时刻与起爆点位置对遮蔽效率非常敏感。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FY1 三枚烟幕弹干扰 M1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问题3结果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417320"/>
          <a:ext cx="9829800" cy="190195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弹号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投放点 (x,y,z) m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起爆点 (x,y,z) m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有效时长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1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(17728.9, 0.6, 1800.0)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(17165.4, 5.2, 1719.1)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3.67 s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2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(17315.3, 4.0, 1800.0)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(16594.3, 10.0, 1667.6)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2.71 s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3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(17081.6, 5.9, 1800.0)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(16262.2, 12.7, 1629.0)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42C46"/>
                          </a:solidFill>
                          <a:latin typeface="Calibri"/>
                          <a:ea typeface="Microsoft YaHei"/>
                          <a:cs typeface="Calibri"/>
                        </a:rPr>
                        <a:t>0.64 s</a:t>
                      </a:r>
                      <a:endParaRPr lang="en-US" sz="11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68680" y="3547872"/>
            <a:ext cx="10424160" cy="384048"/>
          </a:xfrm>
          <a:prstGeom prst="rect">
            <a:avLst/>
          </a:prstGeom>
          <a:solidFill>
            <a:srgbClr val="E8F3FD"/>
          </a:solidFill>
          <a:ln w="12700">
            <a:solidFill>
              <a:srgbClr val="5496D2"/>
            </a:solidFill>
          </a:ln>
        </p:spPr>
        <p:txBody>
          <a:bodyPr wrap="square" lIns="137160" tIns="36576" rIns="0" bIns="0" rtlCol="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B3762"/>
                </a:solidFill>
                <a:latin typeface="Calibri"/>
                <a:ea typeface="Microsoft YaHei"/>
                <a:cs typeface="Calibri"/>
              </a:rPr>
              <a:t>共同策略：FY1 方向角 179.526°，速度 138.724 m/s</a:t>
            </a:r>
            <a:endParaRPr lang="en-US" sz="1600" dirty="0"/>
          </a:p>
        </p:txBody>
      </p:sp>
      <p:sp>
        <p:nvSpPr>
          <p:cNvPr id="9" name="Shape 8"/>
          <p:cNvSpPr/>
          <p:nvPr/>
        </p:nvSpPr>
        <p:spPr>
          <a:xfrm>
            <a:off x="914400" y="5129784"/>
            <a:ext cx="74980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914400" y="505663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22960" y="5248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0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14600" y="505663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423160" y="5248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14800" y="505663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023360" y="5248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10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15000" y="505663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623560" y="5248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15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0" y="505663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223760" y="5248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20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915400" y="505663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823960" y="5248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25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77620" y="4398264"/>
            <a:ext cx="129936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594360" y="4389120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4664"/>
                </a:solidFill>
                <a:latin typeface="Calibri"/>
                <a:ea typeface="Microsoft YaHei"/>
                <a:cs typeface="Calibri"/>
              </a:rPr>
              <a:t>弹1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031340" y="4654296"/>
            <a:ext cx="1664208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94360" y="4645152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4664"/>
                </a:solidFill>
                <a:latin typeface="Calibri"/>
                <a:ea typeface="Microsoft YaHei"/>
                <a:cs typeface="Calibri"/>
              </a:rPr>
              <a:t>弹2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572207" y="4910328"/>
            <a:ext cx="1891436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94360" y="490118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4664"/>
                </a:solidFill>
                <a:latin typeface="Calibri"/>
                <a:ea typeface="Microsoft YaHei"/>
                <a:cs typeface="Calibri"/>
              </a:rPr>
              <a:t>弹3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903720" y="422452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20486C"/>
                </a:solidFill>
                <a:latin typeface="Calibri"/>
                <a:ea typeface="Microsoft YaHei"/>
                <a:cs typeface="Calibri"/>
              </a:rPr>
              <a:t>时间错开投放/起爆，扩大连续覆盖窗口。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三架无人机各投放一枚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问题4结果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08176"/>
          <a:ext cx="9829800" cy="21031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无人机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方向角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速度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投放点 (x,y,z) m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起爆点 (x,y,z) m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时长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FY1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5.261°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124.539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(17892.2, 8.5, 1800)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(17918.8, 10.9, 1799.8)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4.58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FY2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296.837°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128.677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(12398.9, 611.5, 1400)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(12689.1, 38.1, 1277.8)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3.95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FY3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75.064°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123.949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(6773.4, -100.5, 700)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(6823.1, 85.7, 688.1)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Calibri"/>
                          <a:ea typeface="Microsoft YaHei"/>
                          <a:cs typeface="Calibri"/>
                        </a:rPr>
                        <a:t>2.805</a:t>
                      </a:r>
                      <a:endParaRPr lang="en-US" sz="10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914400" y="404164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24128" y="41605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11.335 s</a:t>
            </a:r>
            <a:endParaRPr lang="en-US" sz="2200" dirty="0"/>
          </a:p>
        </p:txBody>
      </p:sp>
      <p:sp>
        <p:nvSpPr>
          <p:cNvPr id="9" name="Text 9"/>
          <p:cNvSpPr/>
          <p:nvPr/>
        </p:nvSpPr>
        <p:spPr>
          <a:xfrm>
            <a:off x="1024128" y="454456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单弹时长合计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0440" y="404164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630168" y="416052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3 架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630168" y="45445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参与无人机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0" y="4041648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779008" y="416052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/>
                <a:ea typeface="Microsoft YaHei"/>
                <a:cs typeface="Calibri"/>
              </a:rPr>
              <a:t>空间协同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79008" y="454456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覆盖特点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多无人机可以从不同空间位置生成烟幕云团，覆盖单机难以兼顾的遮蔽时间段。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五架无人机、多烟幕弹、多导弹综合策略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问题5结果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32688" y="14447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40.6 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单弹有效时长合计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0128" y="144475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749"/>
                </a:solidFill>
                <a:latin typeface="Calibri"/>
                <a:ea typeface="Microsoft YaHei"/>
                <a:cs typeface="Calibri"/>
              </a:rPr>
              <a:t>36.464561 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0" dirty="0">
                <a:solidFill>
                  <a:srgbClr val="082749"/>
                </a:solidFill>
                <a:latin typeface="Calibri"/>
                <a:ea typeface="Microsoft YaHei"/>
                <a:cs typeface="Calibri"/>
              </a:rPr>
              <a:t>按导弹合并总时长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190488" y="144475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15 枚 / 5 架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90488" y="182880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投放规模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42032"/>
          <a:ext cx="10972800" cy="185623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导弹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联合遮蔽区间（答辩摘要）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Calibri"/>
                        </a:rPr>
                        <a:t>合并时长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50" b="1">
                          <a:solidFill>
                            <a:srgbClr val="082749"/>
                          </a:solidFill>
                          <a:latin typeface="Calibri"/>
                          <a:ea typeface="Microsoft YaHei"/>
                          <a:cs typeface="Calibri"/>
                        </a:rPr>
                        <a:t>M1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0">
                          <a:solidFill>
                            <a:srgbClr val="182A41"/>
                          </a:solidFill>
                          <a:latin typeface="Calibri"/>
                          <a:ea typeface="Microsoft YaHei"/>
                          <a:cs typeface="Calibri"/>
                        </a:rPr>
                        <a:t>[4.965,8.635]; [8.692,11.726]; [16.172,19.872]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50" b="1">
                          <a:solidFill>
                            <a:srgbClr val="082749"/>
                          </a:solidFill>
                          <a:latin typeface="Calibri"/>
                          <a:ea typeface="Microsoft YaHei"/>
                          <a:cs typeface="Calibri"/>
                        </a:rPr>
                        <a:t>10.404 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50" b="1">
                          <a:solidFill>
                            <a:srgbClr val="082749"/>
                          </a:solidFill>
                          <a:latin typeface="Calibri"/>
                          <a:ea typeface="Microsoft YaHei"/>
                          <a:cs typeface="Calibri"/>
                        </a:rPr>
                        <a:t>M2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0">
                          <a:solidFill>
                            <a:srgbClr val="182A41"/>
                          </a:solidFill>
                          <a:latin typeface="Calibri"/>
                          <a:ea typeface="Microsoft YaHei"/>
                          <a:cs typeface="Calibri"/>
                        </a:rPr>
                        <a:t>[8.885,11.845]; [12.163,19.774]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50" b="1">
                          <a:solidFill>
                            <a:srgbClr val="082749"/>
                          </a:solidFill>
                          <a:latin typeface="Calibri"/>
                          <a:ea typeface="Microsoft YaHei"/>
                          <a:cs typeface="Calibri"/>
                        </a:rPr>
                        <a:t>10.571 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50" b="1">
                          <a:solidFill>
                            <a:srgbClr val="082749"/>
                          </a:solidFill>
                          <a:latin typeface="Calibri"/>
                          <a:ea typeface="Microsoft YaHei"/>
                          <a:cs typeface="Calibri"/>
                        </a:rPr>
                        <a:t>M3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b="0">
                          <a:solidFill>
                            <a:srgbClr val="182A41"/>
                          </a:solidFill>
                          <a:latin typeface="Calibri"/>
                          <a:ea typeface="Microsoft YaHei"/>
                          <a:cs typeface="Calibri"/>
                        </a:rPr>
                        <a:t>13.795–20.023 s；22.378–27.103 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/>
                      <a:r>
                        <a:rPr sz="1100" b="0">
                          <a:solidFill>
                            <a:srgbClr val="182A41"/>
                          </a:solidFill>
                          <a:latin typeface="Calibri"/>
                          <a:ea typeface="Microsoft YaHei"/>
                          <a:cs typeface="Calibri"/>
                        </a:rPr>
                        <a:t>29.256–35.193 s（共 6 段，详见时间轴）</a:t>
                      </a: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50" b="1">
                          <a:solidFill>
                            <a:srgbClr val="082749"/>
                          </a:solidFill>
                          <a:latin typeface="Calibri"/>
                          <a:ea typeface="Microsoft YaHei"/>
                          <a:cs typeface="Calibri"/>
                        </a:rPr>
                        <a:t>15.490 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1005840" y="5239512"/>
            <a:ext cx="978408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100584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8696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0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63652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251764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6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26720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414832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12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89788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77900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18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52856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740968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24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15924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904036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30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0789920" y="5166360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10671048" y="5349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36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58368" y="443484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M1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355228" y="4453128"/>
            <a:ext cx="997433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3368152" y="4453128"/>
            <a:ext cx="824581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5401066" y="4453128"/>
            <a:ext cx="100558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658368" y="469087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M2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420605" y="4709160"/>
            <a:ext cx="804469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4311500" y="4709160"/>
            <a:ext cx="2068518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8368" y="494690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M3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55045" y="4965192"/>
            <a:ext cx="943077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5773677" y="4965192"/>
            <a:ext cx="67401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1"/>
          <p:cNvSpPr/>
          <p:nvPr/>
        </p:nvSpPr>
        <p:spPr>
          <a:xfrm>
            <a:off x="7087733" y="4965192"/>
            <a:ext cx="49464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7600038" y="4965192"/>
            <a:ext cx="771855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3"/>
          <p:cNvSpPr/>
          <p:nvPr/>
        </p:nvSpPr>
        <p:spPr>
          <a:xfrm>
            <a:off x="8957036" y="4965192"/>
            <a:ext cx="65227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4"/>
          <p:cNvSpPr/>
          <p:nvPr/>
        </p:nvSpPr>
        <p:spPr>
          <a:xfrm>
            <a:off x="9896579" y="4965192"/>
            <a:ext cx="67401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/>
          <p:cNvSpPr/>
          <p:nvPr/>
        </p:nvSpPr>
        <p:spPr>
          <a:xfrm>
            <a:off x="11018520" y="55412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2D4969"/>
                </a:solidFill>
                <a:latin typeface="Calibri"/>
                <a:ea typeface="Microsoft YaHei"/>
                <a:cs typeface="Calibri"/>
              </a:rPr>
              <a:t>时间 / s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客观评价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模型优点与不足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优点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4800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模型结构清晰，物理运动过程完整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统一处理导弹、无人机、烟幕弹与云团轨迹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用目标表面采样解决圆柱体整体遮蔽判定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适合差分进化等数值优化算法求解复杂策略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446520" y="1508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/>
                <a:ea typeface="Microsoft YaHei"/>
                <a:cs typeface="Calibri"/>
              </a:rPr>
              <a:t>不足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4800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采样密度会影响边界时刻精度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差分进化存在随机性，最优性依赖搜索参数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未考虑风场、烟幕扩散不均匀和战场扰动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真实传感器探测机理被简化为几何遮挡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43000" y="501091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E2A47"/>
                </a:solidFill>
                <a:latin typeface="Calibri"/>
                <a:ea typeface="Microsoft YaHei"/>
                <a:cs typeface="Calibri"/>
              </a:rPr>
              <a:t>改进方向：自适应采样、局部精修优化、加入风场与扩散模型、引入概率遮蔽评价。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策略优化的效果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48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结论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P1 固定策略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17520" y="1655064"/>
            <a:ext cx="7772400" cy="0"/>
          </a:xfrm>
          <a:prstGeom prst="line">
            <a:avLst/>
          </a:prstGeom>
          <a:noFill/>
          <a:ln w="127000">
            <a:solidFill>
              <a:srgbClr val="CBD5E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017520" y="1655064"/>
            <a:ext cx="296700" cy="0"/>
          </a:xfrm>
          <a:prstGeom prst="line">
            <a:avLst/>
          </a:prstGeom>
          <a:noFill/>
          <a:ln w="1270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927080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1.392 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280160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P2 单弹优化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17520" y="2276856"/>
            <a:ext cx="7772400" cy="0"/>
          </a:xfrm>
          <a:prstGeom prst="line">
            <a:avLst/>
          </a:prstGeom>
          <a:noFill/>
          <a:ln w="127000">
            <a:solidFill>
              <a:srgbClr val="CBD5E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17520" y="2276856"/>
            <a:ext cx="977705" cy="0"/>
          </a:xfrm>
          <a:prstGeom prst="line">
            <a:avLst/>
          </a:prstGeom>
          <a:noFill/>
          <a:ln w="1270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927080" y="2157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563EB"/>
                </a:solidFill>
                <a:latin typeface="Calibri"/>
                <a:ea typeface="Microsoft YaHei"/>
                <a:cs typeface="Calibri"/>
              </a:rPr>
              <a:t>4.587 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280160" y="2798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P3 三弹协同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17520" y="2898648"/>
            <a:ext cx="7772400" cy="0"/>
          </a:xfrm>
          <a:prstGeom prst="line">
            <a:avLst/>
          </a:prstGeom>
          <a:noFill/>
          <a:ln w="127000">
            <a:solidFill>
              <a:srgbClr val="CBD5E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017520" y="2898648"/>
            <a:ext cx="1496291" cy="0"/>
          </a:xfrm>
          <a:prstGeom prst="line">
            <a:avLst/>
          </a:prstGeom>
          <a:noFill/>
          <a:ln w="1270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927080" y="2779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6A34A"/>
                </a:solidFill>
                <a:latin typeface="Calibri"/>
                <a:ea typeface="Microsoft YaHei"/>
                <a:cs typeface="Calibri"/>
              </a:rPr>
              <a:t>7.020 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280160" y="3419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P4 三机协同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17520" y="3520440"/>
            <a:ext cx="7772400" cy="0"/>
          </a:xfrm>
          <a:prstGeom prst="line">
            <a:avLst/>
          </a:prstGeom>
          <a:noFill/>
          <a:ln w="127000">
            <a:solidFill>
              <a:srgbClr val="CBD5E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017520" y="3520440"/>
            <a:ext cx="2416020" cy="0"/>
          </a:xfrm>
          <a:prstGeom prst="line">
            <a:avLst/>
          </a:prstGeom>
          <a:noFill/>
          <a:ln w="1270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927080" y="3401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59E0B"/>
                </a:solidFill>
                <a:latin typeface="Calibri"/>
                <a:ea typeface="Microsoft YaHei"/>
                <a:cs typeface="Calibri"/>
              </a:rPr>
              <a:t>11.335 s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280160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P5 多机多弹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17520" y="4142232"/>
            <a:ext cx="7772400" cy="0"/>
          </a:xfrm>
          <a:prstGeom prst="line">
            <a:avLst/>
          </a:prstGeom>
          <a:noFill/>
          <a:ln w="127000">
            <a:solidFill>
              <a:srgbClr val="CBD5E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017520" y="4142232"/>
            <a:ext cx="7772400" cy="0"/>
          </a:xfrm>
          <a:prstGeom prst="line">
            <a:avLst/>
          </a:prstGeom>
          <a:noFill/>
          <a:ln w="1270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927080" y="4023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7C3AED"/>
                </a:solidFill>
                <a:latin typeface="Calibri"/>
                <a:ea typeface="Microsoft YaHei"/>
                <a:cs typeface="Calibri"/>
              </a:rPr>
              <a:t>36.465 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143000" y="4800600"/>
            <a:ext cx="100584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运动学模型 + 遮蔽判定模型可以稳定计算有效遮蔽时间。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优化航向、速度、投放时间与起爆延时，可显著延长遮蔽时长。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多无人机、多烟幕弹协同明显优于单弹策略。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827"/>
                </a:solidFill>
                <a:latin typeface="Calibri"/>
                <a:ea typeface="Microsoft YaHei"/>
                <a:cs typeface="Calibri"/>
              </a:rPr>
              <a:t>• 最终方案实现了对 M1、M2、M3 的综合干扰覆盖。</a:t>
            </a:r>
            <a:endParaRPr lang="en-US" sz="15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谢谢聆听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FD7FF"/>
                </a:solidFill>
                <a:latin typeface="Calibri"/>
                <a:ea typeface="Microsoft YaHei"/>
                <a:cs typeface="Calibri"/>
              </a:rPr>
              <a:t>欢迎提问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800600" y="3840480"/>
            <a:ext cx="26060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614476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A题 · 烟幕干扰弹的投放策略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1242</Words>
  <Application>Microsoft Office PowerPoint</Application>
  <PresentationFormat>宽屏</PresentationFormat>
  <Paragraphs>317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烟幕干扰弹的投放策略</dc:title>
  <dc:subject>数学建模课程汇报</dc:subject>
  <dc:creator>OpenAI</dc:creator>
  <cp:lastModifiedBy>Jimmy Milton</cp:lastModifiedBy>
  <cp:revision>3</cp:revision>
  <dcterms:created xsi:type="dcterms:W3CDTF">2026-05-17T06:16:47Z</dcterms:created>
  <dcterms:modified xsi:type="dcterms:W3CDTF">2026-05-17T06:53:45Z</dcterms:modified>
</cp:coreProperties>
</file>